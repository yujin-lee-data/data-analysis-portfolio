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03_business_commerce_analysis · Public Dunnhumby dataset · Observational analysis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6692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566928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05B3E"/>
                </a:solidFill>
                <a:latin typeface="맑은 고딕"/>
                <a:ea typeface="맑은 고딕"/>
                <a:cs typeface="맑은 고딕"/>
              </a:rPr>
              <a:t>PROJECT 03 · 고객 · 매출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8778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커머스 고객 · 매출 · 프로모션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Dunnhumby 공개 데이터셋 기반 비즈니스·커머스 분석 포트폴리오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63240"/>
            <a:ext cx="2635758" cy="141732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3063240"/>
            <a:ext cx="2635758" cy="54864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264408"/>
            <a:ext cx="226999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고객 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611880"/>
            <a:ext cx="226999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2,500명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142232"/>
            <a:ext cx="22699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3B0"/>
                </a:solidFill>
                <a:latin typeface="맑은 고딕"/>
                <a:ea typeface="맑은 고딕"/>
                <a:cs typeface="맑은 고딕"/>
              </a:rPr>
              <a:t>household_key 기준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7278" y="3063240"/>
            <a:ext cx="2635758" cy="141732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67278" y="3063240"/>
            <a:ext cx="2635758" cy="54864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68446" y="3264408"/>
            <a:ext cx="226999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장바구니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8446" y="3611880"/>
            <a:ext cx="226999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276,484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8446" y="4142232"/>
            <a:ext cx="22699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3B0"/>
                </a:solidFill>
                <a:latin typeface="맑은 고딕"/>
                <a:ea typeface="맑은 고딕"/>
                <a:cs typeface="맑은 고딕"/>
              </a:rPr>
              <a:t>BASKET_ID 기준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5916" y="3063240"/>
            <a:ext cx="2635758" cy="141732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85916" y="3063240"/>
            <a:ext cx="2635758" cy="54864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7084" y="3264408"/>
            <a:ext cx="226999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총 매출액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7084" y="3611880"/>
            <a:ext cx="226999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8.06M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7084" y="4142232"/>
            <a:ext cx="22699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3B0"/>
                </a:solidFill>
                <a:latin typeface="맑은 고딕"/>
                <a:ea typeface="맑은 고딕"/>
                <a:cs typeface="맑은 고딕"/>
              </a:rPr>
              <a:t>SALES_VALUE 합계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4554" y="3063240"/>
            <a:ext cx="2635758" cy="1417320"/>
          </a:xfrm>
          <a:prstGeom prst="roundRect">
            <a:avLst>
              <a:gd name="adj" fmla="val 8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04554" y="3063240"/>
            <a:ext cx="2635758" cy="54864"/>
          </a:xfrm>
          <a:prstGeom prst="rect">
            <a:avLst/>
          </a:prstGeom>
          <a:solidFill>
            <a:srgbClr val="205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05722" y="3264408"/>
            <a:ext cx="226999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05B3E"/>
                </a:solidFill>
                <a:latin typeface="맑은 고딕"/>
                <a:ea typeface="맑은 고딕"/>
                <a:cs typeface="맑은 고딕"/>
              </a:rPr>
              <a:t>상위20% 매출비중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05722" y="3611880"/>
            <a:ext cx="226999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05B3E"/>
                </a:solidFill>
                <a:latin typeface="맑은 고딕"/>
                <a:ea typeface="맑은 고딕"/>
                <a:cs typeface="맑은 고딕"/>
              </a:rPr>
              <a:t>53.0%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5722" y="4142232"/>
            <a:ext cx="22699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3B0"/>
                </a:solidFill>
                <a:latin typeface="맑은 고딕"/>
                <a:ea typeface="맑은 고딕"/>
                <a:cs typeface="맑은 고딕"/>
              </a:rPr>
              <a:t>파레토 구조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9204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분석 초점   고객군 매출 기여도 · 재구매 행동 · 상품군 성과 · 쿠폰/캠페인 반응 차이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440680"/>
            <a:ext cx="11091672" cy="18288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55778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05B3E"/>
                </a:solidFill>
                <a:latin typeface="맑은 고딕"/>
                <a:ea typeface="맑은 고딕"/>
                <a:cs typeface="맑은 고딕"/>
              </a:rPr>
              <a:t>관찰 데이터 분석 / 인과효과 단정 없음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03_business_commerce_analysis · Public Dunnhumby dataset · Observational analysis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프로젝트 포지셔닝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950976"/>
            <a:ext cx="457200" cy="41148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데이터 분석 4개 도메인 포트폴리오에서 이 프로젝트의 위치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37360"/>
            <a:ext cx="2635758" cy="242316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1965960"/>
            <a:ext cx="226999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514600"/>
            <a:ext cx="226999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운영 데이터 품질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108960"/>
            <a:ext cx="226999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주문·결제·배송 정합성과</a:t>
            </a:r>
            <a:br/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오류 후보·검수 우선순위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7278" y="1737360"/>
            <a:ext cx="2635758" cy="242316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68446" y="1965960"/>
            <a:ext cx="226999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8446" y="2514600"/>
            <a:ext cx="226999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서비스 퍼널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2244" y="3108960"/>
            <a:ext cx="243459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사용자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행동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흐름·전환율·이탈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구간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분석</a:t>
            </a:r>
            <a:endParaRPr sz="1050" b="0" dirty="0">
              <a:solidFill>
                <a:srgbClr val="5B647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85916" y="1737360"/>
            <a:ext cx="2635758" cy="2423160"/>
          </a:xfrm>
          <a:prstGeom prst="roundRect">
            <a:avLst>
              <a:gd name="adj" fmla="val 5000"/>
            </a:avLst>
          </a:prstGeom>
          <a:solidFill>
            <a:srgbClr val="E6F2EA"/>
          </a:solidFill>
          <a:ln w="190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87084" y="1965960"/>
            <a:ext cx="226999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2F855A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7084" y="2514600"/>
            <a:ext cx="226999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비즈니스/커머스 분석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7084" y="3108960"/>
            <a:ext cx="2269998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고객·상품·프로모션</a:t>
            </a:r>
            <a:r>
              <a:rPr lang="en-US"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반응과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br>
              <a:rPr lang="en-US"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</a:b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매출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구조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분석</a:t>
            </a:r>
            <a:endParaRPr sz="1050" b="0" dirty="0">
              <a:solidFill>
                <a:srgbClr val="5B647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004554" y="1737360"/>
            <a:ext cx="2635758" cy="242316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05722" y="1965960"/>
            <a:ext cx="226999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5722" y="2514600"/>
            <a:ext cx="226999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제조/품질 분석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5722" y="3108960"/>
            <a:ext cx="2269998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공정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신호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결측·차이·변동성과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br>
              <a:rPr lang="en-US"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</a:b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점검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우선순위</a:t>
            </a:r>
            <a:endParaRPr sz="1050" b="0" dirty="0">
              <a:solidFill>
                <a:srgbClr val="5B647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48640" y="4526280"/>
            <a:ext cx="11091672" cy="1005840"/>
          </a:xfrm>
          <a:prstGeom prst="roundRect">
            <a:avLst>
              <a:gd name="adj" fmla="val 5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4959002"/>
            <a:ext cx="1060704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dirty="0">
                <a:solidFill>
                  <a:srgbClr val="205B3E"/>
                </a:solidFill>
                <a:latin typeface="맑은 고딕"/>
                <a:ea typeface="맑은 고딕"/>
                <a:cs typeface="맑은 고딕"/>
              </a:rPr>
              <a:t>이 </a:t>
            </a:r>
            <a:r>
              <a:rPr sz="1150" b="1" dirty="0" err="1">
                <a:solidFill>
                  <a:srgbClr val="205B3E"/>
                </a:solidFill>
                <a:latin typeface="맑은 고딕"/>
                <a:ea typeface="맑은 고딕"/>
                <a:cs typeface="맑은 고딕"/>
              </a:rPr>
              <a:t>프로젝트의</a:t>
            </a:r>
            <a:r>
              <a:rPr sz="1150" b="1" dirty="0">
                <a:solidFill>
                  <a:srgbClr val="205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1" dirty="0" err="1">
                <a:solidFill>
                  <a:srgbClr val="205B3E"/>
                </a:solidFill>
                <a:latin typeface="맑은 고딕"/>
                <a:ea typeface="맑은 고딕"/>
                <a:cs typeface="맑은 고딕"/>
              </a:rPr>
              <a:t>역할</a:t>
            </a:r>
            <a:r>
              <a:rPr sz="1150" b="1" dirty="0">
                <a:solidFill>
                  <a:srgbClr val="205B3E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sz="115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운영</a:t>
            </a:r>
            <a:r>
              <a:rPr sz="115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오류</a:t>
            </a:r>
            <a:r>
              <a:rPr sz="115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탐지·퍼널</a:t>
            </a:r>
            <a:r>
              <a:rPr sz="115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이탈이</a:t>
            </a:r>
            <a:r>
              <a:rPr sz="115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아니라</a:t>
            </a:r>
            <a:r>
              <a:rPr sz="115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매출을</a:t>
            </a:r>
            <a:r>
              <a:rPr sz="115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구성하는</a:t>
            </a:r>
            <a:r>
              <a:rPr sz="115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고객·상품·프로모션</a:t>
            </a:r>
            <a:r>
              <a:rPr sz="115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반응</a:t>
            </a:r>
            <a:r>
              <a:rPr sz="115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구조를</a:t>
            </a:r>
            <a:r>
              <a:rPr sz="115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해석해</a:t>
            </a:r>
            <a:r>
              <a:rPr sz="115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비즈니스</a:t>
            </a:r>
            <a:r>
              <a:rPr sz="115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액션</a:t>
            </a:r>
            <a:r>
              <a:rPr sz="115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후보를</a:t>
            </a:r>
            <a:r>
              <a:rPr sz="115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정리</a:t>
            </a:r>
            <a:endParaRPr sz="1150" b="0" dirty="0">
              <a:solidFill>
                <a:srgbClr val="1B2330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03_business_commerce_analysis · Public Dunnhumby dataset · Observational analysis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분석 설계와 지표 정의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950976"/>
            <a:ext cx="457200" cy="41148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관찰 데이터 기준으로 고객·매출·상품·프로모션 반응을 분리해 해석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5B3E"/>
                </a:solidFill>
                <a:latin typeface="맑은 고딕"/>
                <a:ea typeface="맑은 고딕"/>
                <a:cs typeface="맑은 고딕"/>
              </a:rPr>
              <a:t>해석 원칙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45720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F855A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11680"/>
            <a:ext cx="470916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문제 정의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커머스 매출이 어떤 고객군·상품군·쿠폰 반응에서 만들어지는지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90672"/>
            <a:ext cx="45720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F855A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090672"/>
            <a:ext cx="470916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분석 단위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고객(household_key)·장바구니(BASKET_ID)·상품·상대 기간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69664"/>
            <a:ext cx="45720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F855A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169664"/>
            <a:ext cx="470916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해석 원칙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쿠폰·캠페인은 관찰 반응 차이로만 표현하고 인과효과는 단정하지 않음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600200"/>
            <a:ext cx="55138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5B3E"/>
                </a:solidFill>
                <a:latin typeface="맑은 고딕"/>
                <a:ea typeface="맑은 고딕"/>
                <a:cs typeface="맑은 고딕"/>
              </a:rPr>
              <a:t>주요 지표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011680"/>
            <a:ext cx="2674620" cy="11430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26480" y="2011680"/>
            <a:ext cx="45720" cy="1143000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2157984"/>
            <a:ext cx="23454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Avg Basket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432304"/>
            <a:ext cx="23454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05B3E"/>
                </a:solidFill>
                <a:latin typeface="맑은 고딕"/>
                <a:ea typeface="맑은 고딕"/>
                <a:cs typeface="맑은 고딕"/>
              </a:rPr>
              <a:t>29.14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852928"/>
            <a:ext cx="23454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3B0"/>
                </a:solidFill>
                <a:latin typeface="맑은 고딕"/>
                <a:ea typeface="맑은 고딕"/>
                <a:cs typeface="맑은 고딕"/>
              </a:rPr>
              <a:t>장바구니당 평균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5692" y="2011680"/>
            <a:ext cx="2674620" cy="11430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65692" y="2011680"/>
            <a:ext cx="45720" cy="1143000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8572" y="2157984"/>
            <a:ext cx="23454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Top20% Share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8572" y="2432304"/>
            <a:ext cx="23454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05B3E"/>
                </a:solidFill>
                <a:latin typeface="맑은 고딕"/>
                <a:ea typeface="맑은 고딕"/>
                <a:cs typeface="맑은 고딕"/>
              </a:rPr>
              <a:t>53.0%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8572" y="2852928"/>
            <a:ext cx="23454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3B0"/>
                </a:solidFill>
                <a:latin typeface="맑은 고딕"/>
                <a:ea typeface="맑은 고딕"/>
                <a:cs typeface="맑은 고딕"/>
              </a:rPr>
              <a:t>상위 고객 매출비중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319272"/>
            <a:ext cx="2674620" cy="11430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26480" y="3319272"/>
            <a:ext cx="45720" cy="1143000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3465576"/>
            <a:ext cx="23454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Coupon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739896"/>
            <a:ext cx="23454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05B3E"/>
                </a:solidFill>
                <a:latin typeface="맑은 고딕"/>
                <a:ea typeface="맑은 고딕"/>
                <a:cs typeface="맑은 고딕"/>
              </a:rPr>
              <a:t>6.1%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160520"/>
            <a:ext cx="23454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3B0"/>
                </a:solidFill>
                <a:latin typeface="맑은 고딕"/>
                <a:ea typeface="맑은 고딕"/>
                <a:cs typeface="맑은 고딕"/>
              </a:rPr>
              <a:t>쿠폰 장바구니 비율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5692" y="3319272"/>
            <a:ext cx="2674620" cy="11430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965692" y="3319272"/>
            <a:ext cx="45720" cy="1143000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8572" y="3465576"/>
            <a:ext cx="23454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Best Campaign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8572" y="3739896"/>
            <a:ext cx="23454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05B3E"/>
                </a:solidFill>
                <a:latin typeface="맑은 고딕"/>
                <a:ea typeface="맑은 고딕"/>
                <a:cs typeface="맑은 고딕"/>
              </a:rPr>
              <a:t>TypeA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8572" y="4160520"/>
            <a:ext cx="23454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3B0"/>
                </a:solidFill>
                <a:latin typeface="맑은 고딕"/>
                <a:ea typeface="맑은 고딕"/>
                <a:cs typeface="맑은 고딕"/>
              </a:rPr>
              <a:t>관찰 반응률 기준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440680"/>
            <a:ext cx="11091672" cy="640080"/>
          </a:xfrm>
          <a:prstGeom prst="roundRect">
            <a:avLst>
              <a:gd name="adj" fmla="val 6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240" y="544068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05B3E"/>
                </a:solidFill>
                <a:latin typeface="맑은 고딕"/>
                <a:ea typeface="맑은 고딕"/>
                <a:cs typeface="맑은 고딕"/>
              </a:rPr>
              <a:t>주의: DAY/WEEK_NO는 실제 날짜가 아니라 데이터셋 내부의 상대 기간입니다.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03_business_commerce_analysis · Public Dunnhumby dataset · Observational analysis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전체 매출 구조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950976"/>
            <a:ext cx="457200" cy="41148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상대 기간 기준 주차별 매출 추이로 분석 대상의 흐름을 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6766560" cy="4160520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9525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weekly_sale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92299"/>
            <a:ext cx="6437376" cy="3576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43800" y="1645920"/>
            <a:ext cx="4069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5B3E"/>
                </a:solidFill>
                <a:latin typeface="맑은 고딕"/>
                <a:ea typeface="맑은 고딕"/>
                <a:cs typeface="맑은 고딕"/>
              </a:rPr>
              <a:t>해석 포인트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057400"/>
            <a:ext cx="457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F855A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057400"/>
            <a:ext cx="35661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누적 패턴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초기 주차 이후 매출 규모가 확대되며 활동이 누적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3200400"/>
            <a:ext cx="457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F855A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200400"/>
            <a:ext cx="35661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등락 존재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특정 주차만으로 성과를 단정하지 않음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4343400"/>
            <a:ext cx="457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F855A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343400"/>
            <a:ext cx="35661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기준 맥락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고객군·상품군·쿠폰 분석의 기준 맥락으로 활용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897880"/>
            <a:ext cx="11091672" cy="457200"/>
          </a:xfrm>
          <a:prstGeom prst="roundRect">
            <a:avLst>
              <a:gd name="adj" fmla="val 8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89788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05B3E"/>
                </a:solidFill>
                <a:latin typeface="맑은 고딕"/>
                <a:ea typeface="맑은 고딕"/>
                <a:cs typeface="맑은 고딕"/>
              </a:rPr>
              <a:t>※ WEEK_NO는 상대 주차이며 실제 날짜가 아닙니다.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03_business_commerce_analysis · Public Dunnhumby dataset · Observational analysis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고객군별 매출 기여도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950976"/>
            <a:ext cx="457200" cy="41148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상위 고객군의 매출 집중도를 확인해 관리 우선순위를 도출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6766560" cy="4160520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9525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ustomer_segment_sales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92299"/>
            <a:ext cx="6437376" cy="3576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43800" y="1645920"/>
            <a:ext cx="4069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5B3E"/>
                </a:solidFill>
                <a:latin typeface="맑은 고딕"/>
                <a:ea typeface="맑은 고딕"/>
                <a:cs typeface="맑은 고딕"/>
              </a:rPr>
              <a:t>해석 포인트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057400"/>
            <a:ext cx="457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F855A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057400"/>
            <a:ext cx="35661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Top 20%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고객 500명이 전체 매출의 53.0%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3200400"/>
            <a:ext cx="457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F855A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200400"/>
            <a:ext cx="35661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Middle 60%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1,500명, 매출 44.5%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4343400"/>
            <a:ext cx="457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F855A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343400"/>
            <a:ext cx="35661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관리 제안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상위군은 재구매·쿠폰·선호 상품군 모니터링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897880"/>
            <a:ext cx="11091672" cy="457200"/>
          </a:xfrm>
          <a:prstGeom prst="roundRect">
            <a:avLst>
              <a:gd name="adj" fmla="val 8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89788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05B3E"/>
                </a:solidFill>
                <a:latin typeface="맑은 고딕"/>
                <a:ea typeface="맑은 고딕"/>
                <a:cs typeface="맑은 고딕"/>
              </a:rPr>
              <a:t>해석은 본 공개 데이터 기준이며 실제 기업 성과로 일반화하지 않습니다.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03_business_commerce_analysis · Public Dunnhumby dataset · Observational analysis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상품군별 성과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950976"/>
            <a:ext cx="457200" cy="41148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매출 상위 상품군을 기준으로 재고·가격·노출 관리 우선순위를 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6766560" cy="4160520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9525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ategory_sales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92299"/>
            <a:ext cx="6437376" cy="3576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43800" y="1645920"/>
            <a:ext cx="4069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5B3E"/>
                </a:solidFill>
                <a:latin typeface="맑은 고딕"/>
                <a:ea typeface="맑은 고딕"/>
                <a:cs typeface="맑은 고딕"/>
              </a:rPr>
              <a:t>해석 포인트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057400"/>
            <a:ext cx="457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F855A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057400"/>
            <a:ext cx="35661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상위 상품군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COUPON/MISC ITEMS · 전체 매출의 6.4%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3200400"/>
            <a:ext cx="457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F855A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200400"/>
            <a:ext cx="35661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분산 구조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특정 카테고리 의존보다 여러 생활 소비군에 분산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4343400"/>
            <a:ext cx="457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F855A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343400"/>
            <a:ext cx="35661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연계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쿠폰 사용률과 함께 보면 프로모션 후보를 좁힘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897880"/>
            <a:ext cx="11091672" cy="457200"/>
          </a:xfrm>
          <a:prstGeom prst="roundRect">
            <a:avLst>
              <a:gd name="adj" fmla="val 8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89788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05B3E"/>
                </a:solidFill>
                <a:latin typeface="맑은 고딕"/>
                <a:ea typeface="맑은 고딕"/>
                <a:cs typeface="맑은 고딕"/>
              </a:rPr>
              <a:t>해석은 본 공개 데이터 기준이며 실제 기업 성과로 일반화하지 않습니다.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03_business_commerce_analysis · Public Dunnhumby dataset · Observational analysis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쿠폰 · 캠페인 반응 분석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950976"/>
            <a:ext cx="457200" cy="41148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인과효과가 아니라 관찰 데이터 기준의 반응 차이로 해석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5486400" cy="3977639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9525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70992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3A424E"/>
                </a:solidFill>
                <a:latin typeface="맑은 고딕"/>
                <a:ea typeface="맑은 고딕"/>
                <a:cs typeface="맑은 고딕"/>
              </a:rPr>
              <a:t>쿠폰 사용 vs 비사용 평균 구매액</a:t>
            </a:r>
          </a:p>
        </p:txBody>
      </p:sp>
      <p:pic>
        <p:nvPicPr>
          <p:cNvPr id="12" name="Picture 11" descr="coupon_redeemer_avg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123694"/>
            <a:ext cx="5157216" cy="3223259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153912" y="1600200"/>
            <a:ext cx="5486400" cy="3977639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9525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36792" y="170992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3A424E"/>
                </a:solidFill>
                <a:latin typeface="맑은 고딕"/>
                <a:ea typeface="맑은 고딕"/>
                <a:cs typeface="맑은 고딕"/>
              </a:rPr>
              <a:t>캠페인 유형별 관찰 응답률</a:t>
            </a:r>
          </a:p>
        </p:txBody>
      </p:sp>
      <p:pic>
        <p:nvPicPr>
          <p:cNvPr id="15" name="Picture 14" descr="campaign_type_response_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3" y="2123694"/>
            <a:ext cx="5157216" cy="3223259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48640" y="5760720"/>
            <a:ext cx="11091672" cy="548640"/>
          </a:xfrm>
          <a:prstGeom prst="roundRect">
            <a:avLst>
              <a:gd name="adj" fmla="val 6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05B3E"/>
                </a:solidFill>
                <a:latin typeface="맑은 고딕"/>
                <a:ea typeface="맑은 고딕"/>
                <a:cs typeface="맑은 고딕"/>
              </a:rPr>
              <a:t>쿠폰 사용 고객 평균 구매액이 높게 관찰되나 선택 편향이 포함된 관찰 결과 — 실제 증분 효과는 별도 실험 검증 필요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03_business_commerce_analysis · Public Dunnhumby dataset · Observational analysis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비즈니스 액션 제안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950976"/>
            <a:ext cx="457200" cy="41148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데이터에서 확인 가능한 수준으로 관리 우선순위를 제안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37360"/>
            <a:ext cx="5454396" cy="141732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737360"/>
            <a:ext cx="54864" cy="1417320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92024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F855A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1920240"/>
            <a:ext cx="4402836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상위 고객군 관리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구매 주기·쿠폰 반응·선호 상품군을 별도 모니터링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5916" y="1737360"/>
            <a:ext cx="5454396" cy="141732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85916" y="1737360"/>
            <a:ext cx="54864" cy="1417320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4516" y="192024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F855A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1920240"/>
            <a:ext cx="4402836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상품군 운영 우선순위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상위 매출 상품군의 재고·가격·노출을 우선 점검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37560"/>
            <a:ext cx="5454396" cy="141732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3337560"/>
            <a:ext cx="54864" cy="1417320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52044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F855A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19" y="3520440"/>
            <a:ext cx="4402836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쿠폰 반응 세분화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사용·비사용 고객의 장바구니 금액·빈도 차이 추적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5916" y="3337560"/>
            <a:ext cx="5454396" cy="141732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85916" y="3337560"/>
            <a:ext cx="54864" cy="1417320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14516" y="352044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F855A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4596" y="3520440"/>
            <a:ext cx="4402836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실험 설계로 확장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관찰 비교이므로 향후 A/B 테스트로 증분 반응 추가 확인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37760"/>
            <a:ext cx="11091672" cy="777240"/>
          </a:xfrm>
          <a:prstGeom prst="roundRect">
            <a:avLst>
              <a:gd name="adj" fmla="val 6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5237894"/>
            <a:ext cx="1060704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dirty="0" err="1">
                <a:solidFill>
                  <a:srgbClr val="205B3E"/>
                </a:solidFill>
                <a:latin typeface="맑은 고딕"/>
                <a:ea typeface="맑은 고딕"/>
                <a:cs typeface="맑은 고딕"/>
              </a:rPr>
              <a:t>핵심</a:t>
            </a:r>
            <a:r>
              <a:rPr sz="1150" b="1" dirty="0">
                <a:solidFill>
                  <a:srgbClr val="205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1" dirty="0" err="1">
                <a:solidFill>
                  <a:srgbClr val="205B3E"/>
                </a:solidFill>
                <a:latin typeface="맑은 고딕"/>
                <a:ea typeface="맑은 고딕"/>
                <a:cs typeface="맑은 고딕"/>
              </a:rPr>
              <a:t>역량</a:t>
            </a:r>
            <a:r>
              <a:rPr sz="1150" b="1" dirty="0">
                <a:solidFill>
                  <a:srgbClr val="205B3E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sz="110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매출</a:t>
            </a:r>
            <a:r>
              <a:rPr sz="110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기여</a:t>
            </a:r>
            <a:r>
              <a:rPr sz="110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고객군·상품군을</a:t>
            </a:r>
            <a:r>
              <a:rPr sz="110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우선</a:t>
            </a:r>
            <a:r>
              <a:rPr sz="110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관리하고</a:t>
            </a:r>
            <a:r>
              <a:rPr sz="110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쿠폰</a:t>
            </a:r>
            <a:r>
              <a:rPr sz="110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sz="110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캠페인은</a:t>
            </a:r>
            <a:r>
              <a:rPr sz="110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관찰</a:t>
            </a:r>
            <a:r>
              <a:rPr sz="110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반응을</a:t>
            </a:r>
            <a:r>
              <a:rPr sz="110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바탕으로</a:t>
            </a:r>
            <a:r>
              <a:rPr sz="110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실험</a:t>
            </a:r>
            <a:r>
              <a:rPr sz="110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검증</a:t>
            </a:r>
            <a:r>
              <a:rPr sz="110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후보를</a:t>
            </a:r>
            <a:r>
              <a:rPr sz="110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좁힙니다</a:t>
            </a:r>
            <a:r>
              <a:rPr sz="1100" b="0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03_business_commerce_analysis · Public Dunnhumby dataset · Observational analysis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한계점과 재현 방법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950976"/>
            <a:ext cx="457200" cy="41148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공개 관찰 데이터의 범위를 명확히 두고 결과 재현 경로를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5B3E"/>
                </a:solidFill>
                <a:latin typeface="맑은 고딕"/>
                <a:ea typeface="맑은 고딕"/>
                <a:cs typeface="맑은 고딕"/>
              </a:rPr>
              <a:t>해석 한계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4572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F855A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11680"/>
            <a:ext cx="4709160" cy="5366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공개</a:t>
            </a:r>
            <a:r>
              <a:rPr sz="1200" b="1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데이터</a:t>
            </a:r>
            <a:endParaRPr sz="1200" b="1" dirty="0">
              <a:solidFill>
                <a:srgbClr val="1B23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5000"/>
              </a:lnSpc>
            </a:pP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실제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기업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내부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성과로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표현하지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않음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. </a:t>
            </a:r>
            <a:br>
              <a:rPr lang="en-US"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</a:b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쿠폰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캠페인은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선택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편향이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포함된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관찰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비교</a:t>
            </a:r>
            <a:endParaRPr sz="1050" b="0" dirty="0">
              <a:solidFill>
                <a:srgbClr val="5B647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3063240"/>
            <a:ext cx="4572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F855A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063240"/>
            <a:ext cx="470916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상대 기간·비식별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DAY/WEEK_NO는 상대 기간이며 일부 속성은 비식별화로 해석에 제한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600200"/>
            <a:ext cx="55138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5B3E"/>
                </a:solidFill>
                <a:latin typeface="맑은 고딕"/>
                <a:ea typeface="맑은 고딕"/>
                <a:cs typeface="맑은 고딕"/>
              </a:rPr>
              <a:t>재현 방법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011680"/>
            <a:ext cx="5513832" cy="73152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2011680"/>
            <a:ext cx="4572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F855A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11680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Kaggle 원본 CSV를 data/raw/에 배치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880360"/>
            <a:ext cx="5513832" cy="73152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2880360"/>
            <a:ext cx="4572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F855A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880360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requirements.txt 설치 후 python scripts/run_analysis.py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749039"/>
            <a:ext cx="5513832" cy="73152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3749039"/>
            <a:ext cx="4572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F855A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749039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outputs/csv·outputs/charts 결과 확인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486400"/>
            <a:ext cx="11091672" cy="640080"/>
          </a:xfrm>
          <a:prstGeom prst="roundRect">
            <a:avLst>
              <a:gd name="adj" fmla="val 6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548640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05B3E"/>
                </a:solidFill>
                <a:latin typeface="맑은 고딕"/>
                <a:ea typeface="맑은 고딕"/>
                <a:cs typeface="맑은 고딕"/>
              </a:rPr>
              <a:t>결과물  </a:t>
            </a:r>
            <a:r>
              <a:rPr sz="1050" b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고객·매출·상품·쿠폰 분석 CSV와 차트, README/BEGINNER_GUIDE 문서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831</Words>
  <Application>Microsoft Office PowerPoint</Application>
  <PresentationFormat>와이드스크린</PresentationFormat>
  <Paragraphs>152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이유진</cp:lastModifiedBy>
  <cp:revision>9</cp:revision>
  <dcterms:created xsi:type="dcterms:W3CDTF">2013-01-27T09:14:16Z</dcterms:created>
  <dcterms:modified xsi:type="dcterms:W3CDTF">2026-06-06T10:50:35Z</dcterms:modified>
  <cp:category/>
</cp:coreProperties>
</file>