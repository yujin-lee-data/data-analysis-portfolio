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04_manufacturing_quality_analysis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66928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8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56692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PROJECT 04 · 공정 · 품질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8778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반도체 공정 품질 신호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UCI SECOM 공개 데이터 기반 제조/품질 분석 포트폴리오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2635758" cy="14173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063240"/>
            <a:ext cx="2635758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64408"/>
            <a:ext cx="22699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데이터 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61188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1,567건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142232"/>
            <a:ext cx="22699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SECOM 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7278" y="3063240"/>
            <a:ext cx="2635758" cy="14173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67278" y="3063240"/>
            <a:ext cx="2635758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8446" y="3264408"/>
            <a:ext cx="22699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공정 신호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8446" y="361188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590개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8446" y="4142232"/>
            <a:ext cx="22699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익명화 변수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5916" y="3063240"/>
            <a:ext cx="2635758" cy="14173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85916" y="3063240"/>
            <a:ext cx="2635758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7084" y="3264408"/>
            <a:ext cx="22699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Fail 비율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7084" y="361188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6.6%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7084" y="4142232"/>
            <a:ext cx="22699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라벨 불균형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4554" y="3063240"/>
            <a:ext cx="2635758" cy="1417320"/>
          </a:xfrm>
          <a:prstGeom prst="roundRect">
            <a:avLst>
              <a:gd name="adj" fmla="val 8000"/>
            </a:avLst>
          </a:prstGeom>
          <a:solidFill>
            <a:srgbClr val="F8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04554" y="3063240"/>
            <a:ext cx="2635758" cy="54864"/>
          </a:xfrm>
          <a:prstGeom prst="rect">
            <a:avLst/>
          </a:prstGeom>
          <a:solidFill>
            <a:srgbClr val="8A2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05722" y="3264408"/>
            <a:ext cx="226999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Top 후보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5722" y="361188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feature_294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5722" y="4142232"/>
            <a:ext cx="226999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priority score 기준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9204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분석 초점   결측률 · 그룹 차이 · 변동성 · 품질 신호 우선순위 · 해석 한계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440680"/>
            <a:ext cx="11091672" cy="18288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55778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관찰 데이터 분석 / 인과효과 단정 없음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04_manufacturing_quality_analysis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프로젝트 포지셔닝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데이터 분석 4개 도메인 포트폴리오에서 이 프로젝트의 위치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7360"/>
            <a:ext cx="2635758" cy="24231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965960"/>
            <a:ext cx="22699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51460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운영 데이터 품질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08960"/>
            <a:ext cx="226999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주문·결제·배송 정합성과</a:t>
            </a:r>
            <a:br/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오류 후보·검수 우선순위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7278" y="1737360"/>
            <a:ext cx="2635758" cy="24231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8446" y="1965960"/>
            <a:ext cx="22699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8446" y="251460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서비스 퍼널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0710" y="3108960"/>
            <a:ext cx="243459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사용자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행동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흐름·전환율·이탈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구간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85916" y="1737360"/>
            <a:ext cx="2635758" cy="2423160"/>
          </a:xfrm>
          <a:prstGeom prst="roundRect">
            <a:avLst>
              <a:gd name="adj" fmla="val 5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7084" y="1965960"/>
            <a:ext cx="22699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7084" y="251460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비즈니스/커머스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7084" y="3108960"/>
            <a:ext cx="226999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고객·상품·프로모션</a:t>
            </a:r>
            <a: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반응과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b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매출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구조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분석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004554" y="1737360"/>
            <a:ext cx="2635758" cy="2423160"/>
          </a:xfrm>
          <a:prstGeom prst="roundRect">
            <a:avLst>
              <a:gd name="adj" fmla="val 5000"/>
            </a:avLst>
          </a:prstGeom>
          <a:solidFill>
            <a:srgbClr val="F8E7E4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05722" y="1965960"/>
            <a:ext cx="226999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5722" y="2514600"/>
            <a:ext cx="226999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제조/품질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5722" y="3108960"/>
            <a:ext cx="2269998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신호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결측·차이·변동성과</a:t>
            </a:r>
            <a:b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</a:b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점검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우선순위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4526280"/>
            <a:ext cx="11091672" cy="1005840"/>
          </a:xfrm>
          <a:prstGeom prst="roundRect">
            <a:avLst>
              <a:gd name="adj" fmla="val 5000"/>
            </a:avLst>
          </a:prstGeom>
          <a:solidFill>
            <a:srgbClr val="F8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4681728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이 프로젝트의 역할  </a:t>
            </a:r>
            <a:r>
              <a:rPr sz="11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‘품질 라벨과 관련해 어떤 신호를 먼저 점검할 것인가’를 정리하는 제조/품질 데이터 포트폴리오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04_manufacturing_quality_analysis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데이터 구조와 해석 원칙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변수명이 익명화된 공개 데이터이므로 원인 단정이 아니라 신호 우선순위로 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해석 원칙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4572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47091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분석 가능 범위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Pass/Fail 그룹 간 분포 차이와 결측·변동성 신호를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90672"/>
            <a:ext cx="4572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90672"/>
            <a:ext cx="47091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해석 제외 범위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실제 공정명·센서명·설비 조건을 알 수 없어 불량 원인 판단은 불가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9664"/>
            <a:ext cx="45720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69664"/>
            <a:ext cx="470916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핵심 원칙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‘불량 원인’이 아니라 ‘추가 점검이 필요한 품질 신호 후보’로 표현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600200"/>
            <a:ext cx="5513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주요 지표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011680"/>
            <a:ext cx="2674620" cy="1143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2011680"/>
            <a:ext cx="4572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2157984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432304"/>
            <a:ext cx="23454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1,567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852928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측정 row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5692" y="2011680"/>
            <a:ext cx="2674620" cy="1143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5692" y="2011680"/>
            <a:ext cx="4572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8572" y="2157984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8572" y="2432304"/>
            <a:ext cx="23454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590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8572" y="2852928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익명화 변수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319272"/>
            <a:ext cx="2674620" cy="1143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3319272"/>
            <a:ext cx="4572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3465576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Pass/Fail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23454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1,463/104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160520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라벨 분포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5692" y="3319272"/>
            <a:ext cx="2674620" cy="11430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65692" y="3319272"/>
            <a:ext cx="4572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8572" y="3465576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Fail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8572" y="3739896"/>
            <a:ext cx="23454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6.6%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8572" y="4160520"/>
            <a:ext cx="23454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A3B0"/>
                </a:solidFill>
                <a:latin typeface="맑은 고딕"/>
                <a:ea typeface="맑은 고딕"/>
                <a:cs typeface="맑은 고딕"/>
              </a:rPr>
              <a:t>불균형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6000"/>
            </a:avLst>
          </a:prstGeom>
          <a:solidFill>
            <a:srgbClr val="F8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결측률 40% 이상 변수는 삭제 확정이 아니라 별도 데이터 품질 관리 후보로 분리합니다.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04_manufacturing_quality_analysis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결측률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일부 측정 신호는 결측률이 높아 해석 전 관리 기준이 필요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5486400" cy="3977639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0992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A424E"/>
                </a:solidFill>
                <a:latin typeface="맑은 고딕"/>
                <a:ea typeface="맑은 고딕"/>
                <a:cs typeface="맑은 고딕"/>
              </a:rPr>
              <a:t>결측률 분포</a:t>
            </a:r>
          </a:p>
        </p:txBody>
      </p:sp>
      <p:pic>
        <p:nvPicPr>
          <p:cNvPr id="12" name="Picture 11" descr="02_missing_rat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06488"/>
            <a:ext cx="5157216" cy="305767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53912" y="1600200"/>
            <a:ext cx="5486400" cy="3977639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170992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A424E"/>
                </a:solidFill>
                <a:latin typeface="맑은 고딕"/>
                <a:ea typeface="맑은 고딕"/>
                <a:cs typeface="맑은 고딕"/>
              </a:rPr>
              <a:t>고결측 변수 (데이터 품질 관리 후보)</a:t>
            </a:r>
          </a:p>
        </p:txBody>
      </p:sp>
      <p:pic>
        <p:nvPicPr>
          <p:cNvPr id="15" name="Picture 14" descr="03_top_missing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023" y="2057400"/>
            <a:ext cx="4724177" cy="335584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8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결측률 40% 이상 변수는 우선 점검이 아니라 별도 데이터 품질 관리 후보로 분리했습니다.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04_manufacturing_quality_analysis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Pass/Fail 차이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Fail 그룹과 Pass 그룹의 분포 차이가 큰 신호를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6766560" cy="41605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4_top_group_difference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48" y="1764792"/>
            <a:ext cx="5393543" cy="38313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43800" y="1645920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해석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057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057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표준화 기준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변수 단위 차이를 줄이기 위해 표준화 평균 차이를 사용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200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00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원인 아님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차이가 큰 신호는 불량 원인이 아니라 추가 점검 후보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343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343400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현장 검증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실제 공정명·센서명과 매핑될 때 해석력이 커짐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F8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049536"/>
            <a:ext cx="106984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결측</a:t>
            </a:r>
            <a:r>
              <a:rPr sz="1000" b="0" dirty="0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 40% </a:t>
            </a:r>
            <a:r>
              <a:rPr sz="1000" b="0" dirty="0" err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미만</a:t>
            </a:r>
            <a:r>
              <a:rPr sz="1000" b="0" dirty="0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신호</a:t>
            </a:r>
            <a:r>
              <a:rPr sz="1000" b="0" dirty="0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기준이며</a:t>
            </a:r>
            <a:r>
              <a:rPr sz="1000" b="0" dirty="0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분포</a:t>
            </a:r>
            <a:r>
              <a:rPr sz="1000" b="0" dirty="0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차이는</a:t>
            </a:r>
            <a:r>
              <a:rPr sz="1000" b="0" dirty="0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원인이</a:t>
            </a:r>
            <a:r>
              <a:rPr sz="1000" b="0" dirty="0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아니라</a:t>
            </a:r>
            <a:r>
              <a:rPr sz="1000" b="0" dirty="0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점검</a:t>
            </a:r>
            <a:r>
              <a:rPr sz="1000" b="0" dirty="0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후보입니다</a:t>
            </a:r>
            <a:r>
              <a:rPr sz="1000" b="0" dirty="0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04_manufacturing_quality_analysis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변동성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공정 안정성 관점에서 값의 퍼짐과 극단값 가능성을 함께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5486400" cy="3977639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0992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A424E"/>
                </a:solidFill>
                <a:latin typeface="맑은 고딕"/>
                <a:ea typeface="맑은 고딕"/>
                <a:cs typeface="맑은 고딕"/>
              </a:rPr>
              <a:t>변동성 상위 변수</a:t>
            </a:r>
          </a:p>
        </p:txBody>
      </p:sp>
      <p:pic>
        <p:nvPicPr>
          <p:cNvPr id="12" name="Picture 11" descr="05_top_variability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751" y="2057400"/>
            <a:ext cx="4724177" cy="335584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53912" y="1600200"/>
            <a:ext cx="5486400" cy="3977639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36792" y="170992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A424E"/>
                </a:solidFill>
                <a:latin typeface="맑은 고딕"/>
                <a:ea typeface="맑은 고딕"/>
                <a:cs typeface="맑은 고딕"/>
              </a:rPr>
              <a:t>Pass/Fail 분포 예시</a:t>
            </a:r>
          </a:p>
        </p:txBody>
      </p:sp>
      <p:pic>
        <p:nvPicPr>
          <p:cNvPr id="15" name="Picture 14" descr="07_pass_fail_boxplot_top_fe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140" y="2057400"/>
            <a:ext cx="4971942" cy="335584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8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측정 노이즈·조건 변화·센서 이슈 등 여러 가능성이 있어 단정하지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04_manufacturing_quality_analysis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점검 우선순위 도출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결측·그룹 차이·변동성을 종합해 상위 후보 신호를 정렬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6766560" cy="41605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6_quality_signal_priority_to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956" y="1764792"/>
            <a:ext cx="4475927" cy="38313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43800" y="1645920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해석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057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0520" y="2065867"/>
            <a:ext cx="3566160" cy="366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Top </a:t>
            </a: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후보</a:t>
            </a:r>
            <a:endParaRPr sz="1200" b="1" dirty="0">
              <a:solidFill>
                <a:srgbClr val="1B23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</a:pP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feature_294 · feature_159 ·</a:t>
            </a:r>
            <a: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feature_510 (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결측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40%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미만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200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0520" y="3200400"/>
            <a:ext cx="3688080" cy="366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종합</a:t>
            </a:r>
            <a:r>
              <a:rPr sz="1200" b="1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기준</a:t>
            </a:r>
            <a:endParaRPr sz="1200" b="1" dirty="0">
              <a:solidFill>
                <a:srgbClr val="1B23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그룹차이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0.45 +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변동성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0.25</a:t>
            </a:r>
            <a: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+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결측위험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0.20 +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극단값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0.10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343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0520" y="4346293"/>
            <a:ext cx="3688080" cy="366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고결측</a:t>
            </a:r>
            <a:r>
              <a:rPr sz="1200" b="1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분리</a:t>
            </a:r>
            <a:endParaRPr sz="1200" b="1" dirty="0">
              <a:solidFill>
                <a:srgbClr val="1B23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</a:pP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feature_158 등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고결측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신호는</a:t>
            </a:r>
            <a: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데이터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품질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관리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후보로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별도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F8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우선순위는 실제 공정 판단이 아니라 제한된 검토 자원의 점검 순서를 정하는 후보 목록입니다.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04_manufacturing_quality_analysis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보조 모델과 품질 신호 해석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모델은 참고용 보조 지표이며 실제 적용 성능으로 주장하지 않음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6766560" cy="4160520"/>
          </a:xfrm>
          <a:prstGeom prst="roundRect">
            <a:avLst>
              <a:gd name="adj" fmla="val 3000"/>
            </a:avLst>
          </a:prstGeom>
          <a:solidFill>
            <a:srgbClr val="FBFCFD"/>
          </a:solidFill>
          <a:ln w="9525">
            <a:solidFill>
              <a:srgbClr val="E7E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8_model_baseline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48" y="1764792"/>
            <a:ext cx="5393543" cy="38313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43800" y="1645920"/>
            <a:ext cx="4069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해석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2057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057400"/>
            <a:ext cx="3566160" cy="5366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보조</a:t>
            </a:r>
            <a:r>
              <a:rPr sz="1200" b="1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지표</a:t>
            </a:r>
            <a:endParaRPr sz="1200" b="1" dirty="0">
              <a:solidFill>
                <a:srgbClr val="1B23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로지스틱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회귀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베이스라인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계수를</a:t>
            </a:r>
            <a: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신호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참고용으로만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사용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43800" y="3200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00400"/>
            <a:ext cx="3566160" cy="5366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불균형</a:t>
            </a:r>
            <a:r>
              <a:rPr sz="1200" b="1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주의</a:t>
            </a:r>
            <a:endParaRPr sz="1200" b="1" dirty="0">
              <a:solidFill>
                <a:srgbClr val="1B23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</a:pP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Fail 6.6% —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정확도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(약 84%)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만으로</a:t>
            </a:r>
            <a:r>
              <a:rPr lang="en-US"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해석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불가</a:t>
            </a:r>
            <a:r>
              <a:rPr lang="en-US" sz="105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05000"/>
              </a:lnSpc>
            </a:pP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ROC-AUC 약 0.67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343400"/>
            <a:ext cx="4572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343400"/>
            <a:ext cx="3566160" cy="366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과장</a:t>
            </a:r>
            <a:r>
              <a:rPr sz="1200" b="1" dirty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200" b="1" dirty="0" err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금지</a:t>
            </a:r>
            <a:endParaRPr sz="1200" b="1" dirty="0">
              <a:solidFill>
                <a:srgbClr val="1B2330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05000"/>
              </a:lnSpc>
            </a:pP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실제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공정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적용·불량률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감소·원인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판단으로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표현하지</a:t>
            </a:r>
            <a:r>
              <a:rPr sz="1050" b="0" dirty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50" b="0" dirty="0" err="1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않음</a:t>
            </a:r>
            <a:endParaRPr sz="1050" b="0" dirty="0">
              <a:solidFill>
                <a:srgbClr val="5B647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589788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F8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베이스라인은 numpy 로지스틱 회귀(추가 의존성 없음)로 어디서나 재현 가능하게 구현했습니다.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04_manufacturing_quality_analysis · Public dataset · Observational analysis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7395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7BEC8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한계점과 재현 방법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950976"/>
            <a:ext cx="457200" cy="411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공개 제조 데이터의 해석 범위를 명확히 제한하고 재현 경로를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해석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11680"/>
            <a:ext cx="47091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해석 한계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변수명이 익명화되어 실제 센서·공정 의미를 알 수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6324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63240"/>
            <a:ext cx="47091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원인 단정 불가</a:t>
            </a:r>
          </a:p>
          <a:p>
            <a:pPr algn="l">
              <a:lnSpc>
                <a:spcPct val="105000"/>
              </a:lnSpc>
            </a:pPr>
            <a:r>
              <a:rPr sz="1050" b="0">
                <a:solidFill>
                  <a:srgbClr val="5B6472"/>
                </a:solidFill>
                <a:latin typeface="맑은 고딕"/>
                <a:ea typeface="맑은 고딕"/>
                <a:cs typeface="맑은 고딕"/>
              </a:rPr>
              <a:t>분포 차이·변동성은 원인이 아니라 추가 점검 후보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00200"/>
            <a:ext cx="5513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재현 방법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011680"/>
            <a:ext cx="5513832" cy="7315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1168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data/raw/uci-secom.csv를 기준 경로에 배치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880360"/>
            <a:ext cx="5513832" cy="7315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2880360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880360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requirements 설치 후 python scripts/run_analysis.py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749039"/>
            <a:ext cx="5513832" cy="73152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749039"/>
            <a:ext cx="4572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749039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outputs/csv·outputs/figures 결과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6000"/>
            </a:avLst>
          </a:prstGeom>
          <a:solidFill>
            <a:srgbClr val="F8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A281E"/>
                </a:solidFill>
                <a:latin typeface="맑은 고딕"/>
                <a:ea typeface="맑은 고딕"/>
                <a:cs typeface="맑은 고딕"/>
              </a:rPr>
              <a:t>결과물  </a:t>
            </a:r>
            <a:r>
              <a:rPr sz="1050" b="0">
                <a:solidFill>
                  <a:srgbClr val="1B2330"/>
                </a:solidFill>
                <a:latin typeface="맑은 고딕"/>
                <a:ea typeface="맑은 고딕"/>
                <a:cs typeface="맑은 고딕"/>
              </a:rPr>
              <a:t>결측 요약·그룹 차이·변동성·품질 신호 우선순위 CSV와 차트, SQLite 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784</Words>
  <Application>Microsoft Office PowerPoint</Application>
  <PresentationFormat>와이드스크린</PresentationFormat>
  <Paragraphs>143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이유진</cp:lastModifiedBy>
  <cp:revision>13</cp:revision>
  <dcterms:created xsi:type="dcterms:W3CDTF">2013-01-27T09:14:16Z</dcterms:created>
  <dcterms:modified xsi:type="dcterms:W3CDTF">2026-06-06T10:47:21Z</dcterms:modified>
  <cp:category/>
</cp:coreProperties>
</file>